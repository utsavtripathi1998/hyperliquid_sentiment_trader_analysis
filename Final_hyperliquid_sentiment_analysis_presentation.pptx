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15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question: can market sentiment help explain trader behavior and performance? Explain that the output uses daily sentiment labels joined to intraday trade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main story: Greed is not simply better. It has more PnL and efficiency, while Fear has a higher win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sentiment is daily while trades are intraday, so the correct join is date-level. Also mention the leverage column missing in the actual input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why a left join is used: trader data is the primary fact table and sentiment is an explanatory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all trades and realized trades; this avoids calling zero-PnL opening trades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trade-off: Greed has more PnL, slightly higher mean realized PnL, and better efficiency, but Fear has a better win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how strategy should not treat Bitcoin sentiment as BTC-only. Altcoins had material contribution to PnL.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account segmentation as a trading intelligence layer. Account behavior is likely stronger than sentiment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p-values are based on realized non-zero PnL trades to avoid opening trades diluting profitability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that sentiment interacts with execution side. In Greed, SELL/short-side behavior did especially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making the final message crisp: sentiment is a useful context variable, but strategy needs a multivariate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1188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Trader Performance vs. Bitcoin Market Sentiment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9933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8111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Objective: discover whether sentiment regimes explain trader performance and identify patterns that can improve trading strategy.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6309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July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818120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77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41981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853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$10.30M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893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Total Closed PnL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2441981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560853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$1.19B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71800" y="2880893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Total Volume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2441981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560853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104K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2880893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Realized Trades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78040" y="2441981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560853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99.997%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2880893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Sentiment Coverage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72600" y="2441981"/>
            <a:ext cx="201168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560853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55480" y="2880893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Missing Sentiment Rows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3953435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Decision-ready interpretation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4403104"/>
            <a:ext cx="10789920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594052"/>
            <a:ext cx="10789920" cy="12075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Sentiment alone is not enough to predict PnL; account, symbol, side, and trade size explain more variation.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Greed drives higher activity and better PnL efficiency, but also a lower win rate than Fear.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Very large trades dominate total PnL; risk controls should focus on size, not only frequency.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Short/SELL activity performed especially well during Greed; BUY activity performed better during Fear.
`</a:t>
            </a:r>
            <a:endParaRPr lang="en-US" sz="140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C81DB642-3091-4EBE-82F6-F2D1948B24CC}"/>
              </a:ext>
            </a:extLst>
          </p:cNvPr>
          <p:cNvSpPr/>
          <p:nvPr/>
        </p:nvSpPr>
        <p:spPr>
          <a:xfrm>
            <a:off x="3582296" y="1446897"/>
            <a:ext cx="14630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FFC8922-0ACC-42FD-877E-989FCE0CA519}"/>
              </a:ext>
            </a:extLst>
          </p:cNvPr>
          <p:cNvSpPr/>
          <p:nvPr/>
        </p:nvSpPr>
        <p:spPr>
          <a:xfrm>
            <a:off x="3765176" y="1885809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Trades analyzed</a:t>
            </a:r>
            <a:endParaRPr lang="en-US" sz="14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437913D3-9811-4D7C-AFC8-0AC8B9F069A5}"/>
              </a:ext>
            </a:extLst>
          </p:cNvPr>
          <p:cNvSpPr/>
          <p:nvPr/>
        </p:nvSpPr>
        <p:spPr>
          <a:xfrm>
            <a:off x="5228216" y="1446897"/>
            <a:ext cx="123444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9F809E50-7C99-460F-B9E0-305E37CCC3D8}"/>
              </a:ext>
            </a:extLst>
          </p:cNvPr>
          <p:cNvSpPr/>
          <p:nvPr/>
        </p:nvSpPr>
        <p:spPr>
          <a:xfrm>
            <a:off x="5411096" y="1565769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32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C46F3307-5F14-41D6-8E25-A4D7C6918471}"/>
              </a:ext>
            </a:extLst>
          </p:cNvPr>
          <p:cNvSpPr/>
          <p:nvPr/>
        </p:nvSpPr>
        <p:spPr>
          <a:xfrm>
            <a:off x="5411096" y="1885809"/>
            <a:ext cx="978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Accounts</a:t>
            </a:r>
            <a:endParaRPr lang="en-US" sz="14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34D24B29-4135-448F-A46D-4B5F50AFF1A9}"/>
              </a:ext>
            </a:extLst>
          </p:cNvPr>
          <p:cNvSpPr/>
          <p:nvPr/>
        </p:nvSpPr>
        <p:spPr>
          <a:xfrm>
            <a:off x="6645536" y="1446897"/>
            <a:ext cx="1371600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002060"/>
            </a:solidFill>
            <a:prstDash val="solid"/>
          </a:ln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94429D15-49D9-4F44-B392-E26735C57FC1}"/>
              </a:ext>
            </a:extLst>
          </p:cNvPr>
          <p:cNvSpPr/>
          <p:nvPr/>
        </p:nvSpPr>
        <p:spPr>
          <a:xfrm>
            <a:off x="6828416" y="1565769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246</a:t>
            </a:r>
            <a:endParaRPr lang="en-US" sz="14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892085F2-F740-4FC7-8CF9-346408AEA46C}"/>
              </a:ext>
            </a:extLst>
          </p:cNvPr>
          <p:cNvSpPr/>
          <p:nvPr/>
        </p:nvSpPr>
        <p:spPr>
          <a:xfrm>
            <a:off x="6828416" y="1885809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</a:rPr>
              <a:t>Symbols</a:t>
            </a:r>
            <a:endParaRPr lang="en-US" sz="14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E5B17488-DD14-4F54-8F60-3AF41526A46C}"/>
              </a:ext>
            </a:extLst>
          </p:cNvPr>
          <p:cNvSpPr/>
          <p:nvPr/>
        </p:nvSpPr>
        <p:spPr>
          <a:xfrm>
            <a:off x="3765176" y="155232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211K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78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understanding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67742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6541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770"/>
                </a:solidFill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68910"/>
            <a:ext cx="2148840" cy="36576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368910"/>
            <a:ext cx="960120" cy="36576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1368910"/>
            <a:ext cx="2377440" cy="36576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Date 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368910"/>
            <a:ext cx="5349240" cy="36576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                                     Key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734670"/>
            <a:ext cx="21488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Trader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734670"/>
            <a:ext cx="9601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211,224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734670"/>
            <a:ext cx="2377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2023-05-01 to 2025-05-01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734670"/>
            <a:ext cx="5349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account, coin, execution_price, size_usd, side, timestamp_ist, direction, closed_pnl, fee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100430"/>
            <a:ext cx="21488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 &amp; Greed Index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100430"/>
            <a:ext cx="96012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2,644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2100430"/>
            <a:ext cx="23774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2018-02-01 to 2025-05-02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100430"/>
            <a:ext cx="53492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date, value, classification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87767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Column interpretation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179422"/>
            <a:ext cx="5257800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16582"/>
            <a:ext cx="5257800" cy="15781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Closed PnL is realized profit/loss; many opening trades have zero PnL and should not be treated as losing trades.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Direction indicates open/close and long/short behavior; Side captures BUY/SELL execution.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Fear &amp; Greed classification is daily, so it must be joined to trade-level data using trade date.
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87767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Data quality findings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179422"/>
            <a:ext cx="5257800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316582"/>
            <a:ext cx="5257800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No nulls or full duplicate rows in either raw file.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Date parsing successful for all trader timestamps and sentiment dates.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Only 6 joined rows were missing sentiment, due to boundary/date coverage mismatch.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Leverage column was not present in the provided trader file, so leverage analysis is marked as unavailable.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177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&amp; join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19" y="791226"/>
            <a:ext cx="11212761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77626"/>
            <a:ext cx="5034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770"/>
                </a:solidFill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799" y="1586754"/>
            <a:ext cx="1876421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51346"/>
            <a:ext cx="166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Raw trader trades</a:t>
            </a:r>
          </a:p>
        </p:txBody>
      </p:sp>
      <p:sp>
        <p:nvSpPr>
          <p:cNvPr id="9" name="Shape 7"/>
          <p:cNvSpPr/>
          <p:nvPr/>
        </p:nvSpPr>
        <p:spPr>
          <a:xfrm>
            <a:off x="2587752" y="1797066"/>
            <a:ext cx="329518" cy="292608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799" y="1586754"/>
            <a:ext cx="1876421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751346"/>
            <a:ext cx="166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Parse timestamp IST</a:t>
            </a:r>
          </a:p>
        </p:txBody>
      </p:sp>
      <p:sp>
        <p:nvSpPr>
          <p:cNvPr id="12" name="Shape 10"/>
          <p:cNvSpPr/>
          <p:nvPr/>
        </p:nvSpPr>
        <p:spPr>
          <a:xfrm>
            <a:off x="4873752" y="1797066"/>
            <a:ext cx="329518" cy="292608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799" y="1586754"/>
            <a:ext cx="1876421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751346"/>
            <a:ext cx="166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Create trade_date</a:t>
            </a:r>
          </a:p>
        </p:txBody>
      </p:sp>
      <p:sp>
        <p:nvSpPr>
          <p:cNvPr id="15" name="Shape 13"/>
          <p:cNvSpPr/>
          <p:nvPr/>
        </p:nvSpPr>
        <p:spPr>
          <a:xfrm>
            <a:off x="7159752" y="1797066"/>
            <a:ext cx="329518" cy="292608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799" y="1586754"/>
            <a:ext cx="1876421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1751346"/>
            <a:ext cx="166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Left join on date</a:t>
            </a:r>
          </a:p>
        </p:txBody>
      </p:sp>
      <p:sp>
        <p:nvSpPr>
          <p:cNvPr id="18" name="Shape 16"/>
          <p:cNvSpPr/>
          <p:nvPr/>
        </p:nvSpPr>
        <p:spPr>
          <a:xfrm>
            <a:off x="9445752" y="1797066"/>
            <a:ext cx="329518" cy="292608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799" y="1586754"/>
            <a:ext cx="1876421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9528" y="1751346"/>
            <a:ext cx="1665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analytical base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2821194"/>
            <a:ext cx="10160134" cy="713232"/>
          </a:xfrm>
          <a:prstGeom prst="roundRect">
            <a:avLst>
              <a:gd name="adj" fmla="val 10256"/>
            </a:avLst>
          </a:prstGeom>
          <a:solidFill>
            <a:schemeClr val="accent5">
              <a:lumMod val="20000"/>
              <a:lumOff val="80000"/>
            </a:schemeClr>
          </a:solidFill>
          <a:ln w="1397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287" y="2958354"/>
            <a:ext cx="9848923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Join key: trader_df[Timestamp IST] → trade_date and sentiment_df[date] → sentiment_date. A left join keeps every trade even if sentiment is missing.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918474"/>
            <a:ext cx="10617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Cleaning steps used in Python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220226"/>
            <a:ext cx="10617798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357386"/>
            <a:ext cx="1061779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Standardized column names to snake_case.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Converted Timestamp IST and date into datetime format.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Mapped 5 sentiment classes into Fear, Greed, and Neutral business groups.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Converted numeric fields such as size_usd, closed_pnl, fee, and execution_price.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Created event/position flags from Direction: Open, Close, Long, Short, Other.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25696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770"/>
                </a:solidFill>
              </a:rPr>
              <a:t>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920240" cy="541020"/>
          </a:xfrm>
          <a:prstGeom prst="rect">
            <a:avLst/>
          </a:prstGeom>
          <a:solidFill>
            <a:srgbClr val="0B1F3A"/>
          </a:solidFill>
          <a:ln w="5080">
            <a:solidFill>
              <a:srgbClr val="00206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Feature family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234440"/>
            <a:ext cx="4160520" cy="541020"/>
          </a:xfrm>
          <a:prstGeom prst="rect">
            <a:avLst/>
          </a:prstGeom>
          <a:solidFill>
            <a:srgbClr val="0B1F3A"/>
          </a:solidFill>
          <a:ln w="5080">
            <a:solidFill>
              <a:srgbClr val="00206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Features created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234440"/>
            <a:ext cx="4937760" cy="541020"/>
          </a:xfrm>
          <a:prstGeom prst="rect">
            <a:avLst/>
          </a:prstGeom>
          <a:solidFill>
            <a:srgbClr val="0B1F3A"/>
          </a:solidFill>
          <a:ln w="5080">
            <a:solidFill>
              <a:srgbClr val="00206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      Business purpose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75460"/>
            <a:ext cx="192024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PnL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1775460"/>
            <a:ext cx="416052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r>
              <a:rPr lang="en-US" sz="14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total_closed_pnl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avg_pnl, net_pnl, realized_trades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775460"/>
            <a:ext cx="493776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profitability and fee-adjusted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16480"/>
            <a:ext cx="192024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Win/loss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316480"/>
            <a:ext cx="416052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is_profit, is_loss, win_rate, loss_rate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316480"/>
            <a:ext cx="493776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quality of outcomes, not only total PnL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857500"/>
            <a:ext cx="192024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 behavior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857500"/>
            <a:ext cx="416052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trade_count, buy_share, side, event_type, position_type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857500"/>
            <a:ext cx="493776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how traders behave in sentiment regimes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398520"/>
            <a:ext cx="192024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Risk/scale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3398520"/>
            <a:ext cx="416052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size_usd, trade_size_bucket, pnl_per_1k_volume, avg_fee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398520"/>
            <a:ext cx="493776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profitable skill from large notional exposure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939540"/>
            <a:ext cx="192024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Granularity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14600" y="3939540"/>
            <a:ext cx="416052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account, coin, trade_date, week, hour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939540"/>
            <a:ext cx="4937760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account, symbol, and time-period segmentation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983480"/>
            <a:ext cx="10607040" cy="822960"/>
          </a:xfrm>
          <a:prstGeom prst="roundRect">
            <a:avLst>
              <a:gd name="adj" fmla="val 8889"/>
            </a:avLst>
          </a:prstGeom>
          <a:solidFill>
            <a:srgbClr val="FFF9ED"/>
          </a:solidFill>
          <a:ln w="13970">
            <a:solidFill>
              <a:srgbClr val="F2B7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120640"/>
            <a:ext cx="102961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A"/>
                </a:solidFill>
              </a:rPr>
              <a:t>Important modeling choice: profitability metrics are interpreted on realized trades because opening trades frequently have Closed PnL = 0. Trading frequency and volume use all trades.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02920" y="804673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29107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70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FB2C6C8-C332-401C-886D-2370CB570511}"/>
              </a:ext>
            </a:extLst>
          </p:cNvPr>
          <p:cNvSpPr/>
          <p:nvPr/>
        </p:nvSpPr>
        <p:spPr>
          <a:xfrm>
            <a:off x="370601" y="1484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Bitcoin Sentiment vs Trader Performance</a:t>
            </a:r>
            <a:endParaRPr lang="en-US" sz="25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C5F8019-EDC6-43AC-822A-1BE13E2DD2B5}"/>
              </a:ext>
            </a:extLst>
          </p:cNvPr>
          <p:cNvSpPr/>
          <p:nvPr/>
        </p:nvSpPr>
        <p:spPr>
          <a:xfrm>
            <a:off x="366298" y="510451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 Greed shows the strongest trading edge: highest win rate, highest average PnL, and best efficiency per volume.</a:t>
            </a:r>
            <a:endParaRPr lang="en-US" sz="115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17F8A1FE-719A-49B7-9E46-C6BF1A36B387}"/>
              </a:ext>
            </a:extLst>
          </p:cNvPr>
          <p:cNvSpPr/>
          <p:nvPr/>
        </p:nvSpPr>
        <p:spPr>
          <a:xfrm>
            <a:off x="352851" y="1036499"/>
            <a:ext cx="2057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211K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total trades</a:t>
            </a:r>
            <a:endParaRPr lang="en-US" sz="105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2A021E8-2233-4EAC-84F6-579C4C9C9171}"/>
              </a:ext>
            </a:extLst>
          </p:cNvPr>
          <p:cNvSpPr/>
          <p:nvPr/>
        </p:nvSpPr>
        <p:spPr>
          <a:xfrm>
            <a:off x="2579146" y="1036499"/>
            <a:ext cx="1683572" cy="512064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$10.0M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total net PnL</a:t>
            </a:r>
            <a:endParaRPr lang="en-US" sz="105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1AB79162-A516-45F0-AAAC-8F77F28315F2}"/>
              </a:ext>
            </a:extLst>
          </p:cNvPr>
          <p:cNvSpPr/>
          <p:nvPr/>
        </p:nvSpPr>
        <p:spPr>
          <a:xfrm>
            <a:off x="4791994" y="1036499"/>
            <a:ext cx="2057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$1.19B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traded volume</a:t>
            </a:r>
            <a:endParaRPr lang="en-US" sz="10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82EBA851-0EFE-466E-BF14-DF18B4C76326}"/>
              </a:ext>
            </a:extLst>
          </p:cNvPr>
          <p:cNvSpPr/>
          <p:nvPr/>
        </p:nvSpPr>
        <p:spPr>
          <a:xfrm>
            <a:off x="7098971" y="1036499"/>
            <a:ext cx="2057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E8ECF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8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Extreme Greed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best efficiency regime</a:t>
            </a:r>
            <a:endParaRPr lang="en-US" sz="105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31DB5C1-6CAC-47E7-8D07-66CD69E2BF7B}"/>
              </a:ext>
            </a:extLst>
          </p:cNvPr>
          <p:cNvSpPr/>
          <p:nvPr/>
        </p:nvSpPr>
        <p:spPr>
          <a:xfrm>
            <a:off x="4168586" y="5246685"/>
            <a:ext cx="7637927" cy="1265458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
</a:t>
            </a:r>
            <a:r>
              <a:rPr lang="en-US" sz="11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Extreme Greed is the best quality regime: </a:t>
            </a:r>
            <a:r>
              <a:rPr lang="en-US" sz="111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$2.69M net PnL, 46.49% win rate, and $21.81 PnL per $1k volume.
</a:t>
            </a:r>
            <a:r>
              <a:rPr lang="en-US" sz="11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Fear creates the largest absolute profit pool: </a:t>
            </a:r>
            <a:r>
              <a:rPr lang="en-US" sz="111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$3.26M net PnL on the highest volume ($483.3M), but efficiency is only $6.95 per $1k.
</a:t>
            </a:r>
            <a:r>
              <a:rPr lang="en-US" sz="11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Greed needs tighter risk control: </a:t>
            </a:r>
            <a:r>
              <a:rPr lang="en-US" sz="111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max loss (-$118.0K) and higher loss rate (11.57%).
</a:t>
            </a:r>
            <a:r>
              <a:rPr lang="en-US" sz="111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Extreme Fear is the weakest signal: </a:t>
            </a:r>
            <a:r>
              <a:rPr lang="en-US" sz="111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win rate (37.06%) and low efficiency ($6.46 per $1k).</a:t>
            </a:r>
            <a:endParaRPr lang="en-US" sz="111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CCA148F1-C3EF-4604-9755-0AA3C1B63499}"/>
              </a:ext>
            </a:extLst>
          </p:cNvPr>
          <p:cNvSpPr/>
          <p:nvPr/>
        </p:nvSpPr>
        <p:spPr>
          <a:xfrm>
            <a:off x="731499" y="5467034"/>
            <a:ext cx="3154697" cy="840173"/>
          </a:xfrm>
          <a:prstGeom prst="rect">
            <a:avLst/>
          </a:prstGeom>
          <a:solidFill>
            <a:srgbClr val="FFF4E8"/>
          </a:solidFill>
          <a:ln>
            <a:solidFill>
              <a:srgbClr val="FBD4AC"/>
            </a:solidFill>
          </a:ln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rank:  Extreme Greed  &gt;  Fear  &gt;  Greed ≈ Neutral  &gt;  Extreme Fear</a:t>
            </a:r>
            <a:endParaRPr lang="en-US" sz="105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CD598BAE-673E-4A3F-88F5-8A6A64D7C62C}"/>
              </a:ext>
            </a:extLst>
          </p:cNvPr>
          <p:cNvSpPr/>
          <p:nvPr/>
        </p:nvSpPr>
        <p:spPr>
          <a:xfrm>
            <a:off x="393192" y="8665284"/>
            <a:ext cx="11311128" cy="475488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takeaway: </a:t>
            </a:r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allocation during Extreme Greed, use Fear for volume-driven opportunities with strict sizing, and reduce exposure/stop-loss limits during Greed and Extreme Fear.</a:t>
            </a:r>
            <a:endParaRPr lang="en-US" sz="1240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149C65E-3A82-4E48-8437-75A142DA1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490337"/>
              </p:ext>
            </p:extLst>
          </p:nvPr>
        </p:nvGraphicFramePr>
        <p:xfrm>
          <a:off x="703730" y="1694339"/>
          <a:ext cx="11000591" cy="339312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98929">
                  <a:extLst>
                    <a:ext uri="{9D8B030D-6E8A-4147-A177-3AD203B41FA5}">
                      <a16:colId xmlns:a16="http://schemas.microsoft.com/office/drawing/2014/main" val="2822256689"/>
                    </a:ext>
                  </a:extLst>
                </a:gridCol>
                <a:gridCol w="552112">
                  <a:extLst>
                    <a:ext uri="{9D8B030D-6E8A-4147-A177-3AD203B41FA5}">
                      <a16:colId xmlns:a16="http://schemas.microsoft.com/office/drawing/2014/main" val="4260225936"/>
                    </a:ext>
                  </a:extLst>
                </a:gridCol>
                <a:gridCol w="542496">
                  <a:extLst>
                    <a:ext uri="{9D8B030D-6E8A-4147-A177-3AD203B41FA5}">
                      <a16:colId xmlns:a16="http://schemas.microsoft.com/office/drawing/2014/main" val="2726924049"/>
                    </a:ext>
                  </a:extLst>
                </a:gridCol>
                <a:gridCol w="730024">
                  <a:extLst>
                    <a:ext uri="{9D8B030D-6E8A-4147-A177-3AD203B41FA5}">
                      <a16:colId xmlns:a16="http://schemas.microsoft.com/office/drawing/2014/main" val="3780432777"/>
                    </a:ext>
                  </a:extLst>
                </a:gridCol>
                <a:gridCol w="703234">
                  <a:extLst>
                    <a:ext uri="{9D8B030D-6E8A-4147-A177-3AD203B41FA5}">
                      <a16:colId xmlns:a16="http://schemas.microsoft.com/office/drawing/2014/main" val="3424940906"/>
                    </a:ext>
                  </a:extLst>
                </a:gridCol>
                <a:gridCol w="645640">
                  <a:extLst>
                    <a:ext uri="{9D8B030D-6E8A-4147-A177-3AD203B41FA5}">
                      <a16:colId xmlns:a16="http://schemas.microsoft.com/office/drawing/2014/main" val="3135111902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28307326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9615908"/>
                    </a:ext>
                  </a:extLst>
                </a:gridCol>
                <a:gridCol w="497541">
                  <a:extLst>
                    <a:ext uri="{9D8B030D-6E8A-4147-A177-3AD203B41FA5}">
                      <a16:colId xmlns:a16="http://schemas.microsoft.com/office/drawing/2014/main" val="167243676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14884594"/>
                    </a:ext>
                  </a:extLst>
                </a:gridCol>
                <a:gridCol w="793377">
                  <a:extLst>
                    <a:ext uri="{9D8B030D-6E8A-4147-A177-3AD203B41FA5}">
                      <a16:colId xmlns:a16="http://schemas.microsoft.com/office/drawing/2014/main" val="14342892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29100212"/>
                    </a:ext>
                  </a:extLst>
                </a:gridCol>
                <a:gridCol w="578223">
                  <a:extLst>
                    <a:ext uri="{9D8B030D-6E8A-4147-A177-3AD203B41FA5}">
                      <a16:colId xmlns:a16="http://schemas.microsoft.com/office/drawing/2014/main" val="590456022"/>
                    </a:ext>
                  </a:extLst>
                </a:gridCol>
                <a:gridCol w="537883">
                  <a:extLst>
                    <a:ext uri="{9D8B030D-6E8A-4147-A177-3AD203B41FA5}">
                      <a16:colId xmlns:a16="http://schemas.microsoft.com/office/drawing/2014/main" val="3469629601"/>
                    </a:ext>
                  </a:extLst>
                </a:gridCol>
                <a:gridCol w="672353">
                  <a:extLst>
                    <a:ext uri="{9D8B030D-6E8A-4147-A177-3AD203B41FA5}">
                      <a16:colId xmlns:a16="http://schemas.microsoft.com/office/drawing/2014/main" val="3494441482"/>
                    </a:ext>
                  </a:extLst>
                </a:gridCol>
                <a:gridCol w="376517">
                  <a:extLst>
                    <a:ext uri="{9D8B030D-6E8A-4147-A177-3AD203B41FA5}">
                      <a16:colId xmlns:a16="http://schemas.microsoft.com/office/drawing/2014/main" val="1738403426"/>
                    </a:ext>
                  </a:extLst>
                </a:gridCol>
                <a:gridCol w="416859">
                  <a:extLst>
                    <a:ext uri="{9D8B030D-6E8A-4147-A177-3AD203B41FA5}">
                      <a16:colId xmlns:a16="http://schemas.microsoft.com/office/drawing/2014/main" val="3540079802"/>
                    </a:ext>
                  </a:extLst>
                </a:gridCol>
                <a:gridCol w="946674">
                  <a:extLst>
                    <a:ext uri="{9D8B030D-6E8A-4147-A177-3AD203B41FA5}">
                      <a16:colId xmlns:a16="http://schemas.microsoft.com/office/drawing/2014/main" val="2303603705"/>
                    </a:ext>
                  </a:extLst>
                </a:gridCol>
              </a:tblGrid>
              <a:tr h="6522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Sr.No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CLASSIFICATION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TOTAL_TRADES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UNIQUE_ACCOUNTS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UNIQUE_SYMBOLS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TOTAL_PNL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TOTAL_NET_PNL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AVG_PNL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MAX_PROFIT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MAX_LOSS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TOTAL_VOLUME_USD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AVG_TRADE_SIZE_USD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PROFIT_TRADES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LOSS_TRADES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ZERO_PNL_TRADES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WIN_RATE_%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LOSS_RATE_%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2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AVG_PNL_PER_1000_USD_VOLUME</a:t>
                      </a:r>
                      <a:endParaRPr lang="it-IT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205096385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Extreme Fear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739110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715222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115287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-31037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114484261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7931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2475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10994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2206567004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Extreme Greed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39992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2715171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2688141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44223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-10259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124465165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18594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2259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19139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1230638639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Fear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61837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3357155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3264698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135329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-35682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483324790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7816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26019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3789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32029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3951679533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Greed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50303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2150129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2087031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74531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-117990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288582495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5737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19358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5818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25127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3213032933"/>
                  </a:ext>
                </a:extLst>
              </a:tr>
              <a:tr h="54684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Neutral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37686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1292921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1253546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48504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-24500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180242063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4783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14961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19527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3" marR="4803" marT="4803" marB="0" anchor="b"/>
                </a:tc>
                <a:extLst>
                  <a:ext uri="{0D108BD9-81ED-4DB2-BD59-A6C34878D82A}">
                    <a16:rowId xmlns:a16="http://schemas.microsoft.com/office/drawing/2014/main" val="770950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Symbol-level patterns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770"/>
                </a:solidFill>
              </a:rPr>
              <a:t>Top symbols by total PnL within each sentiment regime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770"/>
                </a:solidFill>
              </a:rPr>
              <a:t>07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2197855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Fear: top symbols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83655" y="1280160"/>
            <a:ext cx="1672281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PnL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55936" y="1280160"/>
            <a:ext cx="1433384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163068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83655" y="163068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$1.32M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55936" y="163068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88.6%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198120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83655" y="198120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$0.95M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55936" y="198120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88.8%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83655" y="233172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$0.85M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55936" y="233172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87.0%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800" y="268224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BTC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83655" y="268224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$0.49M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55936" y="268224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86.8%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" y="303276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MELANIA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83655" y="303276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$0.29M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55936" y="303276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17920" y="1280160"/>
            <a:ext cx="2197855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Greed: top symbols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15775" y="1280160"/>
            <a:ext cx="1672281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PnL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88056" y="1280160"/>
            <a:ext cx="1433384" cy="350520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17920" y="163068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@107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415775" y="163068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$2.71M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088056" y="163068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85.2%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7920" y="198120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15775" y="198120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$0.49M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088056" y="198120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72.9%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17920" y="233172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415775" y="233172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$0.33M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88056" y="233172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93.7%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17920" y="268224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415775" y="268224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$0.31M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088056" y="268224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63.6%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17920" y="3032760"/>
            <a:ext cx="2197855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BTC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415775" y="3032760"/>
            <a:ext cx="1672281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$0.22M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088056" y="3032760"/>
            <a:ext cx="1433384" cy="350520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77.2%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68680" y="39776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</a:rPr>
              <a:t>Interpretation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868680" y="4265945"/>
            <a:ext cx="10424160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416552"/>
            <a:ext cx="104241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HYPE is consistently important in both Fear and Greed, but the biggest Greed-period winner is @107.
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BTC had very high volume but not the highest PnL efficiency, suggesting scale without proportional profitability.
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• Smaller/meme-style symbols can dominate PnL during specific regimes, so symbol-level controls are essential.
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Account-level patterns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</a:rPr>
              <a:t>A small number of accounts drive a meaningful share of profit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770"/>
                </a:solidFill>
              </a:rPr>
              <a:t>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500174" cy="359229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94534" y="1234440"/>
            <a:ext cx="3207269" cy="359229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abbreviated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1803" y="1234440"/>
            <a:ext cx="2069206" cy="359229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PnL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1008" y="1234440"/>
            <a:ext cx="2586507" cy="359229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realized PnL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57515" y="1234440"/>
            <a:ext cx="1655365" cy="359229"/>
          </a:xfrm>
          <a:prstGeom prst="rect">
            <a:avLst/>
          </a:prstGeom>
          <a:solidFill>
            <a:srgbClr val="002060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593669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94534" y="1593669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0x0833...9012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1803" y="1593669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$1.24M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1008" y="1593669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$1,138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57515" y="1593669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89.4%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1952897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94534" y="1952897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0xbaaa...7864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1803" y="1952897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$0.88M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1008" y="1952897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57515" y="1952897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98.9%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2312126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94534" y="2312126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0x4acb...b9f4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1803" y="2312126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$0.46M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71008" y="2312126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57515" y="2312126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" y="2671354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094534" y="2671354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0xb123...ed23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1803" y="2671354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$1.64M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71008" y="2671354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57515" y="2671354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72.9%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3030583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094534" y="3030583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0xbee1...7aab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1803" y="3030583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$0.72M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1008" y="3030583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57515" y="3030583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82.9%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" y="3389811"/>
            <a:ext cx="1500174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94534" y="3389811"/>
            <a:ext cx="3207269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0x7274...afbd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01803" y="3389811"/>
            <a:ext cx="2069206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$0.45M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71008" y="3389811"/>
            <a:ext cx="2586507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$1,686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57515" y="3389811"/>
            <a:ext cx="1655365" cy="359229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69.9%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" y="41605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3970">
            <a:solidFill>
              <a:srgbClr val="F2B70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" y="4297680"/>
            <a:ext cx="1020470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Pattern: some accounts produce high PnL through high average realized profit but lower win rate, while others produce steadier outcomes with very high win rate and smaller average gain.</a:t>
            </a:r>
          </a:p>
        </p:txBody>
      </p:sp>
      <p:sp>
        <p:nvSpPr>
          <p:cNvPr id="44" name="Text 42"/>
          <p:cNvSpPr/>
          <p:nvPr/>
        </p:nvSpPr>
        <p:spPr>
          <a:xfrm>
            <a:off x="868680" y="51206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Strategy use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8680" y="5422392"/>
            <a:ext cx="10332720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559552"/>
            <a:ext cx="103327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Segment accounts into high-alpha / high-volatility vs stable-consistency groups.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Use account-level historical behavior to set risk limits and sizing recommendations.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• Do not copy strategy from high-PnL accounts without also checking drawdown and loss-tail behavior.
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D11DA2D3-06B8-41D9-B466-6EA9F94924BF}"/>
              </a:ext>
            </a:extLst>
          </p:cNvPr>
          <p:cNvSpPr/>
          <p:nvPr/>
        </p:nvSpPr>
        <p:spPr>
          <a:xfrm>
            <a:off x="502920" y="4711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</a:t>
            </a:r>
            <a:r>
              <a:rPr lang="en-US" sz="16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PnL</a:t>
            </a: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and Win Rate by Market Sentiment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D83FBD6-2675-44EA-B46A-117A0C44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59" y="1661048"/>
            <a:ext cx="4972744" cy="310558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4BD8900-DE3B-4D2D-89CA-8E05666CB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47" y="1835637"/>
            <a:ext cx="4706007" cy="3153215"/>
          </a:xfrm>
          <a:prstGeom prst="rect">
            <a:avLst/>
          </a:prstGeom>
        </p:spPr>
      </p:pic>
      <p:sp>
        <p:nvSpPr>
          <p:cNvPr id="36" name="Shape 40">
            <a:extLst>
              <a:ext uri="{FF2B5EF4-FFF2-40B4-BE49-F238E27FC236}">
                <a16:creationId xmlns:a16="http://schemas.microsoft.com/office/drawing/2014/main" id="{908CEB2C-7386-4670-9B34-D5AA4CFF203D}"/>
              </a:ext>
            </a:extLst>
          </p:cNvPr>
          <p:cNvSpPr/>
          <p:nvPr/>
        </p:nvSpPr>
        <p:spPr>
          <a:xfrm>
            <a:off x="500232" y="4980787"/>
            <a:ext cx="5061035" cy="1069852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solidFill>
                  <a:schemeClr val="bg1"/>
                </a:solidFill>
              </a:rPr>
              <a:t>Fear sentiment generated the highest total </a:t>
            </a:r>
            <a:r>
              <a:rPr lang="en-US" sz="1200" b="1" dirty="0" err="1">
                <a:solidFill>
                  <a:schemeClr val="bg1"/>
                </a:solidFill>
              </a:rPr>
              <a:t>PnL</a:t>
            </a:r>
            <a:r>
              <a:rPr lang="en-US" sz="1200" dirty="0">
                <a:solidFill>
                  <a:schemeClr val="bg1"/>
                </a:solidFill>
              </a:rPr>
              <a:t>, indicating traders earned maximum profit during fearful market conditions.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Extreme Fear had the lowest </a:t>
            </a:r>
            <a:r>
              <a:rPr lang="en-US" sz="1200" dirty="0" err="1">
                <a:solidFill>
                  <a:schemeClr val="bg1"/>
                </a:solidFill>
              </a:rPr>
              <a:t>PnL</a:t>
            </a:r>
            <a:r>
              <a:rPr lang="en-US" sz="1200" dirty="0">
                <a:solidFill>
                  <a:schemeClr val="bg1"/>
                </a:solidFill>
              </a:rPr>
              <a:t>, showing weaker performance in highly uncertain markets</a:t>
            </a:r>
          </a:p>
        </p:txBody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B8A5FF06-D747-4487-ABD9-05683698DC52}"/>
              </a:ext>
            </a:extLst>
          </p:cNvPr>
          <p:cNvSpPr/>
          <p:nvPr/>
        </p:nvSpPr>
        <p:spPr>
          <a:xfrm>
            <a:off x="6623133" y="5079399"/>
            <a:ext cx="5061035" cy="917452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solidFill>
                  <a:schemeClr val="bg1"/>
                </a:solidFill>
              </a:rPr>
              <a:t>Extreme Greed shows the highest win rate</a:t>
            </a:r>
            <a:r>
              <a:rPr lang="en-US" sz="1200" dirty="0">
                <a:solidFill>
                  <a:schemeClr val="bg1"/>
                </a:solidFill>
              </a:rPr>
              <a:t>, meaning trades were more successful during strong bullish sentiment.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Extreme Fear has the lowest win rate, suggesting higher uncertainty and poor trade accuracy.</a:t>
            </a: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CBF1EAB8-C770-4504-8B9C-C3D36CB89D91}"/>
              </a:ext>
            </a:extLst>
          </p:cNvPr>
          <p:cNvSpPr/>
          <p:nvPr/>
        </p:nvSpPr>
        <p:spPr>
          <a:xfrm>
            <a:off x="502920" y="1046719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E263E499-DD68-41B4-8174-19FA88726FFB}"/>
              </a:ext>
            </a:extLst>
          </p:cNvPr>
          <p:cNvSpPr/>
          <p:nvPr/>
        </p:nvSpPr>
        <p:spPr>
          <a:xfrm>
            <a:off x="502920" y="457737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</a:t>
            </a:r>
            <a:r>
              <a:rPr lang="en-US" sz="16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PnL</a:t>
            </a: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and Win Rate by Market Sentiment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0D8456C-C9BC-4C57-AF59-047DBFBD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7" y="1306063"/>
            <a:ext cx="4820323" cy="30579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A1B1B9A-F080-4E5C-8D09-0A93CDDBE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211" y="1306063"/>
            <a:ext cx="6966833" cy="3291930"/>
          </a:xfrm>
          <a:prstGeom prst="rect">
            <a:avLst/>
          </a:prstGeom>
        </p:spPr>
      </p:pic>
      <p:sp>
        <p:nvSpPr>
          <p:cNvPr id="42" name="Shape 2">
            <a:extLst>
              <a:ext uri="{FF2B5EF4-FFF2-40B4-BE49-F238E27FC236}">
                <a16:creationId xmlns:a16="http://schemas.microsoft.com/office/drawing/2014/main" id="{0B0CD425-4367-43D9-82C8-7F0C6D8D8A1A}"/>
              </a:ext>
            </a:extLst>
          </p:cNvPr>
          <p:cNvSpPr/>
          <p:nvPr/>
        </p:nvSpPr>
        <p:spPr>
          <a:xfrm>
            <a:off x="502920" y="939143"/>
            <a:ext cx="1120140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B63CFB44-8090-44A7-A251-D3A9C0C27196}"/>
              </a:ext>
            </a:extLst>
          </p:cNvPr>
          <p:cNvSpPr/>
          <p:nvPr/>
        </p:nvSpPr>
        <p:spPr>
          <a:xfrm>
            <a:off x="502920" y="350161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 of Trades and Daily </a:t>
            </a:r>
            <a:r>
              <a:rPr lang="en-US" sz="16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PnL</a:t>
            </a: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by Market Sentiment</a:t>
            </a:r>
            <a:endParaRPr lang="en-US" sz="1600" dirty="0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B176B375-19B3-413E-B28E-C31A79294FE4}"/>
              </a:ext>
            </a:extLst>
          </p:cNvPr>
          <p:cNvSpPr/>
          <p:nvPr/>
        </p:nvSpPr>
        <p:spPr>
          <a:xfrm>
            <a:off x="137163" y="4832870"/>
            <a:ext cx="5061035" cy="693868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solidFill>
                  <a:schemeClr val="bg1"/>
                </a:solidFill>
              </a:rPr>
              <a:t>Fear has the highest number of trades, showing traders were most active during fearful market </a:t>
            </a:r>
            <a:r>
              <a:rPr lang="en-US" sz="1200" b="1" dirty="0" err="1">
                <a:solidFill>
                  <a:schemeClr val="bg1"/>
                </a:solidFill>
              </a:rPr>
              <a:t>phases.Extreme</a:t>
            </a:r>
            <a:r>
              <a:rPr lang="en-US" sz="1200" b="1" dirty="0">
                <a:solidFill>
                  <a:schemeClr val="bg1"/>
                </a:solidFill>
              </a:rPr>
              <a:t> Fear has the least trading activity, indicating reduced participation during panic periods.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Shape 40">
            <a:extLst>
              <a:ext uri="{FF2B5EF4-FFF2-40B4-BE49-F238E27FC236}">
                <a16:creationId xmlns:a16="http://schemas.microsoft.com/office/drawing/2014/main" id="{A2F0A615-EC1B-4203-AF75-EA1C28EFA863}"/>
              </a:ext>
            </a:extLst>
          </p:cNvPr>
          <p:cNvSpPr/>
          <p:nvPr/>
        </p:nvSpPr>
        <p:spPr>
          <a:xfrm>
            <a:off x="5647765" y="4850800"/>
            <a:ext cx="6036403" cy="693868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solidFill>
                  <a:schemeClr val="bg1"/>
                </a:solidFill>
              </a:rPr>
              <a:t>Daily </a:t>
            </a:r>
            <a:r>
              <a:rPr lang="en-US" sz="1200" b="1" dirty="0" err="1">
                <a:solidFill>
                  <a:schemeClr val="bg1"/>
                </a:solidFill>
              </a:rPr>
              <a:t>PnL</a:t>
            </a:r>
            <a:r>
              <a:rPr lang="en-US" sz="1200" b="1" dirty="0">
                <a:solidFill>
                  <a:schemeClr val="bg1"/>
                </a:solidFill>
              </a:rPr>
              <a:t> became highly volatile from late 2024 onward, with large profit and loss spikes across </a:t>
            </a:r>
            <a:r>
              <a:rPr lang="en-US" sz="1200" b="1" dirty="0" err="1">
                <a:solidFill>
                  <a:schemeClr val="bg1"/>
                </a:solidFill>
              </a:rPr>
              <a:t>sentiments.Fear</a:t>
            </a:r>
            <a:r>
              <a:rPr lang="en-US" sz="1200" b="1" dirty="0">
                <a:solidFill>
                  <a:schemeClr val="bg1"/>
                </a:solidFill>
              </a:rPr>
              <a:t> and Extreme Greed show strong upside spikes, while Greed also shows a major downside loss, highlighting risk.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2883" y="350161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201400" y="5053949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770"/>
                </a:solidFill>
              </a:rPr>
              <a:t>13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48877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Conclusion in simple language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1350629"/>
            <a:ext cx="1028700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87789"/>
            <a:ext cx="1028700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Greed periods delivered more total PnL and better efficiency, but Fear periods delivered a higher realized win rate.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The average PnL difference between Fear and Greed is not statistically meaningful; the win-rate difference is meaningful.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• A smarter trading strategy should use sentiment as a regime filter, not a direct buy/sell rule.
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380597"/>
            <a:ext cx="3017520" cy="246888"/>
          </a:xfrm>
          <a:prstGeom prst="rect">
            <a:avLst/>
          </a:prstGeom>
          <a:solidFill>
            <a:srgbClr val="0B1F3A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380597"/>
            <a:ext cx="5394960" cy="246888"/>
          </a:xfrm>
          <a:prstGeom prst="rect">
            <a:avLst/>
          </a:prstGeom>
          <a:solidFill>
            <a:srgbClr val="0B1F3A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3627485"/>
            <a:ext cx="301752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analytical 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627485"/>
            <a:ext cx="539496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Date-level left join with sentiment labels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3874373"/>
            <a:ext cx="301752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+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874373"/>
            <a:ext cx="539496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PnL, win rate, volume, side, account, symbol, size bucket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4126103"/>
            <a:ext cx="301752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126103"/>
            <a:ext cx="5394960" cy="246888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sizing, account segmentation, symbol regime playbooks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1871</Words>
  <Application>Microsoft Office PowerPoint</Application>
  <PresentationFormat>Widescreen</PresentationFormat>
  <Paragraphs>336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Senior Data Scientist Assignment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Hyperliquid Trader Performance vs Bitcoin Market Sentiment</dc:title>
  <dc:subject>Hyperliquid Trader Performance vs Bitcoin Market Sentiment</dc:subject>
  <dc:creator>OpenAI</dc:creator>
  <cp:lastModifiedBy>Satish Raja</cp:lastModifiedBy>
  <cp:revision>16</cp:revision>
  <dcterms:created xsi:type="dcterms:W3CDTF">2026-07-07T14:41:35Z</dcterms:created>
  <dcterms:modified xsi:type="dcterms:W3CDTF">2026-07-07T20:09:39Z</dcterms:modified>
</cp:coreProperties>
</file>